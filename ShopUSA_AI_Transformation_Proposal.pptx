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19045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00D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SHOPUSA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E8ED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TRANSFORMATION PROPOSAL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731520" y="2743200"/>
            <a:ext cx="1828800" cy="2743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0175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Accelerating Growth Through AI-Powered Innovation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8404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for: </a:t>
            </a:r>
            <a:r>
              <a:rPr lang="en-US" sz="1200" dirty="0" smtClean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Michael </a:t>
            </a:r>
            <a:r>
              <a:rPr lang="en-US" sz="12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ShopUSA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Mastan &amp; </a:t>
            </a:r>
            <a:r>
              <a:rPr lang="en-US" sz="1200" dirty="0" smtClean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Lakshmi </a:t>
            </a:r>
            <a:r>
              <a:rPr lang="en-US" sz="1200" dirty="0" err="1" smtClean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Narasimhan</a:t>
            </a:r>
            <a:r>
              <a:rPr lang="en-US" sz="1200" dirty="0" smtClean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 , Lean Impeccable Technologies </a:t>
            </a:r>
            <a:r>
              <a:rPr lang="en-US" sz="1200" dirty="0" err="1" smtClean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Pvt</a:t>
            </a:r>
            <a:r>
              <a:rPr lang="en-US" sz="1200" smtClean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Ltd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March 2026 · Confidential</a:t>
            </a:r>
            <a:endParaRPr lang="en-US" sz="12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1371600"/>
            <a:ext cx="731520" cy="731520"/>
          </a:xfrm>
          <a:prstGeom prst="rect">
            <a:avLst/>
          </a:prstGeom>
        </p:spPr>
      </p:pic>
      <p:pic>
        <p:nvPicPr>
          <p:cNvPr id="1026" name="Picture 2" descr="Lean Impeccable Tech | LinkedIn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4050" y="65659"/>
            <a:ext cx="869950" cy="869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4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OPPORTUNITY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ShopUSA is at a critical inflection point. Sign-ups are declining, but the customers who stay are buying more.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92024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554480"/>
            <a:ext cx="1920240" cy="54864"/>
          </a:xfrm>
          <a:prstGeom prst="rect">
            <a:avLst/>
          </a:prstGeom>
          <a:solidFill>
            <a:srgbClr val="F87171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73736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21031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4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Declining Sign-Ups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0080" y="24231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markets show YoY decline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worst at -57%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651760" y="1554480"/>
            <a:ext cx="192024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651760" y="1554480"/>
            <a:ext cx="1920240" cy="54864"/>
          </a:xfrm>
          <a:prstGeom prst="rect">
            <a:avLst/>
          </a:prstGeom>
          <a:solidFill>
            <a:srgbClr val="FF6B35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8920" y="173736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743200" y="21031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4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Slow WMS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2743200" y="24231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processes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automation layer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754880" y="1554480"/>
            <a:ext cx="192024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754880" y="1554480"/>
            <a:ext cx="1920240" cy="54864"/>
          </a:xfrm>
          <a:prstGeom prst="rect">
            <a:avLst/>
          </a:prstGeom>
          <a:solidFill>
            <a:srgbClr val="FBBF24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1737360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846320" y="21031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4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Zero LLM/SEO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4846320" y="24231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Invisible to AI-driven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 assistants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6858000" y="1554480"/>
            <a:ext cx="192024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858000" y="1554480"/>
            <a:ext cx="1920240" cy="54864"/>
          </a:xfrm>
          <a:prstGeom prst="rect">
            <a:avLst/>
          </a:prstGeom>
          <a:solidFill>
            <a:srgbClr val="A78BFA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95160" y="1737360"/>
            <a:ext cx="320040" cy="3200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949440" y="21031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4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Marketing AI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6949440" y="24231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available but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utilized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731520" y="32918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4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BUT THE BRIGHT SPOTS ARE SIGNIFICANT:</a:t>
            </a:r>
            <a:endParaRPr lang="en-US" sz="1400" dirty="0"/>
          </a:p>
        </p:txBody>
      </p:sp>
      <p:sp>
        <p:nvSpPr>
          <p:cNvPr id="26" name="Shape 20"/>
          <p:cNvSpPr/>
          <p:nvPr/>
        </p:nvSpPr>
        <p:spPr>
          <a:xfrm>
            <a:off x="548640" y="3749040"/>
            <a:ext cx="1920240" cy="1097280"/>
          </a:xfrm>
          <a:prstGeom prst="rect">
            <a:avLst/>
          </a:prstGeom>
          <a:solidFill>
            <a:srgbClr val="0B1426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7" name="Text 21"/>
          <p:cNvSpPr/>
          <p:nvPr/>
        </p:nvSpPr>
        <p:spPr>
          <a:xfrm>
            <a:off x="548640" y="37947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34D3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295.7%</a:t>
            </a:r>
            <a:endParaRPr lang="en-US" sz="2600" dirty="0"/>
          </a:p>
        </p:txBody>
      </p:sp>
      <p:sp>
        <p:nvSpPr>
          <p:cNvPr id="28" name="Text 22"/>
          <p:cNvSpPr/>
          <p:nvPr/>
        </p:nvSpPr>
        <p:spPr>
          <a:xfrm>
            <a:off x="548640" y="42062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DK Conversion Rate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548640" y="44348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user orders ~3x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2651760" y="3749040"/>
            <a:ext cx="1920240" cy="1097280"/>
          </a:xfrm>
          <a:prstGeom prst="rect">
            <a:avLst/>
          </a:prstGeom>
          <a:solidFill>
            <a:srgbClr val="0B1426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1" name="Text 25"/>
          <p:cNvSpPr/>
          <p:nvPr/>
        </p:nvSpPr>
        <p:spPr>
          <a:xfrm>
            <a:off x="2651760" y="37947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34D3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+277%</a:t>
            </a:r>
            <a:endParaRPr lang="en-US" sz="2600" dirty="0"/>
          </a:p>
        </p:txBody>
      </p:sp>
      <p:sp>
        <p:nvSpPr>
          <p:cNvPr id="32" name="Text 26"/>
          <p:cNvSpPr/>
          <p:nvPr/>
        </p:nvSpPr>
        <p:spPr>
          <a:xfrm>
            <a:off x="2651760" y="42062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DK Premium Growth</a:t>
            </a:r>
            <a:endParaRPr lang="en-US" sz="1100" dirty="0"/>
          </a:p>
        </p:txBody>
      </p:sp>
      <p:sp>
        <p:nvSpPr>
          <p:cNvPr id="33" name="Text 27"/>
          <p:cNvSpPr/>
          <p:nvPr/>
        </p:nvSpPr>
        <p:spPr>
          <a:xfrm>
            <a:off x="2651760" y="44348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→ 49 premium subs</a:t>
            </a:r>
            <a:endParaRPr lang="en-US" sz="900" dirty="0"/>
          </a:p>
        </p:txBody>
      </p:sp>
      <p:sp>
        <p:nvSpPr>
          <p:cNvPr id="34" name="Shape 28"/>
          <p:cNvSpPr/>
          <p:nvPr/>
        </p:nvSpPr>
        <p:spPr>
          <a:xfrm>
            <a:off x="4754880" y="3749040"/>
            <a:ext cx="1920240" cy="1097280"/>
          </a:xfrm>
          <a:prstGeom prst="rect">
            <a:avLst/>
          </a:prstGeom>
          <a:solidFill>
            <a:srgbClr val="0B1426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5" name="Text 29"/>
          <p:cNvSpPr/>
          <p:nvPr/>
        </p:nvSpPr>
        <p:spPr>
          <a:xfrm>
            <a:off x="4754880" y="37947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34D3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+600%</a:t>
            </a:r>
            <a:endParaRPr lang="en-US" sz="2600" dirty="0"/>
          </a:p>
        </p:txBody>
      </p:sp>
      <p:sp>
        <p:nvSpPr>
          <p:cNvPr id="36" name="Text 30"/>
          <p:cNvSpPr/>
          <p:nvPr/>
        </p:nvSpPr>
        <p:spPr>
          <a:xfrm>
            <a:off x="4754880" y="42062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1CC Orders</a:t>
            </a:r>
            <a:endParaRPr lang="en-US" sz="1100" dirty="0"/>
          </a:p>
        </p:txBody>
      </p:sp>
      <p:sp>
        <p:nvSpPr>
          <p:cNvPr id="37" name="Text 31"/>
          <p:cNvSpPr/>
          <p:nvPr/>
        </p:nvSpPr>
        <p:spPr>
          <a:xfrm>
            <a:off x="4754880" y="44348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buying surge</a:t>
            </a:r>
            <a:endParaRPr lang="en-US" sz="900" dirty="0"/>
          </a:p>
        </p:txBody>
      </p:sp>
      <p:sp>
        <p:nvSpPr>
          <p:cNvPr id="38" name="Shape 32"/>
          <p:cNvSpPr/>
          <p:nvPr/>
        </p:nvSpPr>
        <p:spPr>
          <a:xfrm>
            <a:off x="6858000" y="3749040"/>
            <a:ext cx="1920240" cy="1097280"/>
          </a:xfrm>
          <a:prstGeom prst="rect">
            <a:avLst/>
          </a:prstGeom>
          <a:solidFill>
            <a:srgbClr val="0B1426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9" name="Text 33"/>
          <p:cNvSpPr/>
          <p:nvPr/>
        </p:nvSpPr>
        <p:spPr>
          <a:xfrm>
            <a:off x="6858000" y="37947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34D3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+80%</a:t>
            </a:r>
            <a:endParaRPr lang="en-US" sz="2600" dirty="0"/>
          </a:p>
        </p:txBody>
      </p:sp>
      <p:sp>
        <p:nvSpPr>
          <p:cNvPr id="40" name="Text 34"/>
          <p:cNvSpPr/>
          <p:nvPr/>
        </p:nvSpPr>
        <p:spPr>
          <a:xfrm>
            <a:off x="6858000" y="42062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Premium</a:t>
            </a:r>
            <a:endParaRPr lang="en-US" sz="1100" dirty="0"/>
          </a:p>
        </p:txBody>
      </p:sp>
      <p:sp>
        <p:nvSpPr>
          <p:cNvPr id="41" name="Text 35"/>
          <p:cNvSpPr/>
          <p:nvPr/>
        </p:nvSpPr>
        <p:spPr>
          <a:xfrm>
            <a:off x="6858000" y="44348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→ 27 premium subs</a:t>
            </a:r>
            <a:endParaRPr lang="en-US" sz="900" dirty="0"/>
          </a:p>
        </p:txBody>
      </p:sp>
      <p:pic>
        <p:nvPicPr>
          <p:cNvPr id="42" name="Picture 2" descr="Lean Impeccable Tech | LinkedIn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4050" y="65659"/>
            <a:ext cx="869950" cy="869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4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 PERFORMANCE DEEP DIVE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7498080" cy="18288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E8EDF7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Market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E8ED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Sign-Ups '24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E8ED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Sign-Ups '25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E8ED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E8ED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Orders '25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E8ED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Conv. Rate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E8ED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 '25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B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🇩🇰 Denmark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B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B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871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▼ 22.9%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B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1,777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226.4%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 (+277%)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B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🇸🇪 Sweden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B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B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871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▼ 12.4%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B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119.6%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B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(+50%)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B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🇮🇳 India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B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1,773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B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871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▼ 57.0%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B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BB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A6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(flat)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B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🌐 Global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B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B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871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▼ 26.9%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B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1,086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 (+80%)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31520" y="3200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INSIGHT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31520" y="347472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is experiencing a quality-over-quantity shift. While sign-ups are declining across all markets, conversion rates and premium adoption are rising. This is actually a healthy signal — the business needs AI to (1) reverse the sign-up decline through better marketing and discoverability, and (2) accelerate the premium conversion trend through personalization.</a:t>
            </a:r>
            <a:endParaRPr lang="en-US" sz="1200" dirty="0"/>
          </a:p>
        </p:txBody>
      </p:sp>
      <p:pic>
        <p:nvPicPr>
          <p:cNvPr id="7" name="Picture 2" descr="Lean Impeccable Tech | LinkedI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4050" y="65659"/>
            <a:ext cx="869950" cy="869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8ED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TRANSFORMATION ROADMAP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interconnected AI initiatives to accelerate ShopUSA's growth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2011680" cy="3291840"/>
          </a:xfrm>
          <a:prstGeom prst="rect">
            <a:avLst/>
          </a:prstGeom>
          <a:solidFill>
            <a:srgbClr val="111E36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80160"/>
            <a:ext cx="2011680" cy="54864"/>
          </a:xfrm>
          <a:prstGeom prst="rect">
            <a:avLst/>
          </a:prstGeom>
          <a:solidFill>
            <a:srgbClr val="34D399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6304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18745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Quick Win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457200" y="2057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ED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 + SEO Optimization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23774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4-6 weeks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" y="2651760"/>
            <a:ext cx="1828800" cy="9144"/>
          </a:xfrm>
          <a:prstGeom prst="rect">
            <a:avLst/>
          </a:prstGeom>
          <a:solidFill>
            <a:srgbClr val="162544"/>
          </a:solidFill>
          <a:ln/>
        </p:spPr>
      </p:sp>
      <p:sp>
        <p:nvSpPr>
          <p:cNvPr id="12" name="Text 9"/>
          <p:cNvSpPr/>
          <p:nvPr/>
        </p:nvSpPr>
        <p:spPr>
          <a:xfrm>
            <a:off x="457200" y="26974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data markup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AI-readable content rewrite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Perplexity/ChatGPT discoverability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product search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57200" y="3840480"/>
            <a:ext cx="1828800" cy="457200"/>
          </a:xfrm>
          <a:prstGeom prst="rect">
            <a:avLst/>
          </a:prstGeom>
          <a:solidFill>
            <a:srgbClr val="0A3A4A"/>
          </a:solidFill>
          <a:ln/>
        </p:spPr>
      </p:sp>
      <p:sp>
        <p:nvSpPr>
          <p:cNvPr id="14" name="Text 11"/>
          <p:cNvSpPr/>
          <p:nvPr/>
        </p:nvSpPr>
        <p:spPr>
          <a:xfrm>
            <a:off x="457200" y="38404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+20-30% organic traffic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2560320" y="1280160"/>
            <a:ext cx="2011680" cy="3291840"/>
          </a:xfrm>
          <a:prstGeom prst="rect">
            <a:avLst/>
          </a:prstGeom>
          <a:solidFill>
            <a:srgbClr val="111E36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560320" y="1280160"/>
            <a:ext cx="2011680" cy="54864"/>
          </a:xfrm>
          <a:prstGeom prst="rect">
            <a:avLst/>
          </a:prstGeom>
          <a:solidFill>
            <a:srgbClr val="00D4FF"/>
          </a:solidFill>
          <a:ln/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7480" y="1463040"/>
            <a:ext cx="365760" cy="36576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651760" y="18745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Foundation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2651760" y="2057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ED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AI-Powered WMS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2651760" y="23774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8-12 weeks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2651760" y="2651760"/>
            <a:ext cx="1828800" cy="9144"/>
          </a:xfrm>
          <a:prstGeom prst="rect">
            <a:avLst/>
          </a:prstGeom>
          <a:solidFill>
            <a:srgbClr val="162544"/>
          </a:solidFill>
          <a:ln/>
        </p:spPr>
      </p:sp>
      <p:sp>
        <p:nvSpPr>
          <p:cNvPr id="22" name="Text 18"/>
          <p:cNvSpPr/>
          <p:nvPr/>
        </p:nvSpPr>
        <p:spPr>
          <a:xfrm>
            <a:off x="2651760" y="26974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shipment routing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prediction models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customs docs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optimization engine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2651760" y="3840480"/>
            <a:ext cx="1828800" cy="457200"/>
          </a:xfrm>
          <a:prstGeom prst="rect">
            <a:avLst/>
          </a:prstGeom>
          <a:solidFill>
            <a:srgbClr val="0A3A4A"/>
          </a:solidFill>
          <a:ln/>
        </p:spPr>
      </p:sp>
      <p:sp>
        <p:nvSpPr>
          <p:cNvPr id="24" name="Text 20"/>
          <p:cNvSpPr/>
          <p:nvPr/>
        </p:nvSpPr>
        <p:spPr>
          <a:xfrm>
            <a:off x="2651760" y="38404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40-60% faster processing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4754880" y="1280160"/>
            <a:ext cx="2011680" cy="3291840"/>
          </a:xfrm>
          <a:prstGeom prst="rect">
            <a:avLst/>
          </a:prstGeom>
          <a:solidFill>
            <a:srgbClr val="111E36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4754880" y="1280160"/>
            <a:ext cx="2011680" cy="54864"/>
          </a:xfrm>
          <a:prstGeom prst="rect">
            <a:avLst/>
          </a:prstGeom>
          <a:solidFill>
            <a:srgbClr val="A78BFA"/>
          </a:solidFill>
          <a:ln/>
        </p:spPr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1463040"/>
            <a:ext cx="365760" cy="36576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4846320" y="18745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Growth</a:t>
            </a:r>
            <a:endParaRPr lang="en-US" sz="800" dirty="0"/>
          </a:p>
        </p:txBody>
      </p:sp>
      <p:sp>
        <p:nvSpPr>
          <p:cNvPr id="29" name="Text 24"/>
          <p:cNvSpPr/>
          <p:nvPr/>
        </p:nvSpPr>
        <p:spPr>
          <a:xfrm>
            <a:off x="4846320" y="2057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ED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Mobile App + 1CC</a:t>
            </a:r>
            <a:endParaRPr lang="en-US" sz="1300" dirty="0"/>
          </a:p>
        </p:txBody>
      </p:sp>
      <p:sp>
        <p:nvSpPr>
          <p:cNvPr id="30" name="Text 25"/>
          <p:cNvSpPr/>
          <p:nvPr/>
        </p:nvSpPr>
        <p:spPr>
          <a:xfrm>
            <a:off x="4846320" y="23774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12-16 weeks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4846320" y="2651760"/>
            <a:ext cx="1828800" cy="9144"/>
          </a:xfrm>
          <a:prstGeom prst="rect">
            <a:avLst/>
          </a:prstGeom>
          <a:solidFill>
            <a:srgbClr val="162544"/>
          </a:solidFill>
          <a:ln/>
        </p:spPr>
      </p:sp>
      <p:sp>
        <p:nvSpPr>
          <p:cNvPr id="32" name="Text 27"/>
          <p:cNvSpPr/>
          <p:nvPr/>
        </p:nvSpPr>
        <p:spPr>
          <a:xfrm>
            <a:off x="4846320" y="26974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iOS/Android app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personalization engine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Push: price drops &amp; restocks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reorder system</a:t>
            </a:r>
            <a:endParaRPr lang="en-US" sz="1000" dirty="0"/>
          </a:p>
        </p:txBody>
      </p:sp>
      <p:sp>
        <p:nvSpPr>
          <p:cNvPr id="33" name="Shape 28"/>
          <p:cNvSpPr/>
          <p:nvPr/>
        </p:nvSpPr>
        <p:spPr>
          <a:xfrm>
            <a:off x="4846320" y="3840480"/>
            <a:ext cx="1828800" cy="457200"/>
          </a:xfrm>
          <a:prstGeom prst="rect">
            <a:avLst/>
          </a:prstGeom>
          <a:solidFill>
            <a:srgbClr val="0A3A4A"/>
          </a:solidFill>
          <a:ln/>
        </p:spPr>
      </p:sp>
      <p:sp>
        <p:nvSpPr>
          <p:cNvPr id="34" name="Text 29"/>
          <p:cNvSpPr/>
          <p:nvPr/>
        </p:nvSpPr>
        <p:spPr>
          <a:xfrm>
            <a:off x="4846320" y="38404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3x 1CC order volume</a:t>
            </a:r>
            <a:endParaRPr lang="en-US" sz="1000" dirty="0"/>
          </a:p>
        </p:txBody>
      </p:sp>
      <p:sp>
        <p:nvSpPr>
          <p:cNvPr id="35" name="Shape 30"/>
          <p:cNvSpPr/>
          <p:nvPr/>
        </p:nvSpPr>
        <p:spPr>
          <a:xfrm>
            <a:off x="6949440" y="1280160"/>
            <a:ext cx="2011680" cy="3291840"/>
          </a:xfrm>
          <a:prstGeom prst="rect">
            <a:avLst/>
          </a:prstGeom>
          <a:solidFill>
            <a:srgbClr val="111E36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6" name="Shape 31"/>
          <p:cNvSpPr/>
          <p:nvPr/>
        </p:nvSpPr>
        <p:spPr>
          <a:xfrm>
            <a:off x="6949440" y="1280160"/>
            <a:ext cx="2011680" cy="54864"/>
          </a:xfrm>
          <a:prstGeom prst="rect">
            <a:avLst/>
          </a:prstGeom>
          <a:solidFill>
            <a:srgbClr val="FF6B35"/>
          </a:solidFill>
          <a:ln/>
        </p:spPr>
      </p:sp>
      <p:pic>
        <p:nvPicPr>
          <p:cNvPr id="3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6600" y="1463040"/>
            <a:ext cx="365760" cy="365760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7040880" y="18745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Scale</a:t>
            </a:r>
            <a:endParaRPr lang="en-US" sz="800" dirty="0"/>
          </a:p>
        </p:txBody>
      </p:sp>
      <p:sp>
        <p:nvSpPr>
          <p:cNvPr id="39" name="Text 33"/>
          <p:cNvSpPr/>
          <p:nvPr/>
        </p:nvSpPr>
        <p:spPr>
          <a:xfrm>
            <a:off x="7040880" y="2057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ED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Marketing AI Engine</a:t>
            </a:r>
            <a:endParaRPr lang="en-US" sz="1300" dirty="0"/>
          </a:p>
        </p:txBody>
      </p:sp>
      <p:sp>
        <p:nvSpPr>
          <p:cNvPr id="40" name="Text 34"/>
          <p:cNvSpPr/>
          <p:nvPr/>
        </p:nvSpPr>
        <p:spPr>
          <a:xfrm>
            <a:off x="7040880" y="23774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10-14 weeks</a:t>
            </a:r>
            <a:endParaRPr lang="en-US" sz="1000" dirty="0"/>
          </a:p>
        </p:txBody>
      </p:sp>
      <p:sp>
        <p:nvSpPr>
          <p:cNvPr id="41" name="Shape 35"/>
          <p:cNvSpPr/>
          <p:nvPr/>
        </p:nvSpPr>
        <p:spPr>
          <a:xfrm>
            <a:off x="7040880" y="2651760"/>
            <a:ext cx="1828800" cy="9144"/>
          </a:xfrm>
          <a:prstGeom prst="rect">
            <a:avLst/>
          </a:prstGeom>
          <a:solidFill>
            <a:srgbClr val="162544"/>
          </a:solidFill>
          <a:ln/>
        </p:spPr>
      </p:sp>
      <p:sp>
        <p:nvSpPr>
          <p:cNvPr id="42" name="Text 36"/>
          <p:cNvSpPr/>
          <p:nvPr/>
        </p:nvSpPr>
        <p:spPr>
          <a:xfrm>
            <a:off x="7040880" y="26974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 AI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churn prevention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campaign engine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Cross-market intelligence</a:t>
            </a:r>
            <a:endParaRPr lang="en-US" sz="1000" dirty="0"/>
          </a:p>
        </p:txBody>
      </p:sp>
      <p:sp>
        <p:nvSpPr>
          <p:cNvPr id="43" name="Shape 37"/>
          <p:cNvSpPr/>
          <p:nvPr/>
        </p:nvSpPr>
        <p:spPr>
          <a:xfrm>
            <a:off x="7040880" y="3840480"/>
            <a:ext cx="1828800" cy="457200"/>
          </a:xfrm>
          <a:prstGeom prst="rect">
            <a:avLst/>
          </a:prstGeom>
          <a:solidFill>
            <a:srgbClr val="0A3A4A"/>
          </a:solidFill>
          <a:ln/>
        </p:spPr>
      </p:sp>
      <p:sp>
        <p:nvSpPr>
          <p:cNvPr id="44" name="Text 38"/>
          <p:cNvSpPr/>
          <p:nvPr/>
        </p:nvSpPr>
        <p:spPr>
          <a:xfrm>
            <a:off x="7040880" y="38404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+30% new sign-ups</a:t>
            </a:r>
            <a:endParaRPr lang="en-US" sz="1000" dirty="0"/>
          </a:p>
        </p:txBody>
      </p:sp>
      <p:pic>
        <p:nvPicPr>
          <p:cNvPr id="45" name="Picture 2" descr="Lean Impeccable Tech | LinkedIn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4050" y="65659"/>
            <a:ext cx="869950" cy="869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4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1: IMMEDIATE IMPACT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parallel workstreams that can start immediately and deliver ROI within 6-12 weeks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80160"/>
            <a:ext cx="3931920" cy="54864"/>
          </a:xfrm>
          <a:prstGeom prst="rect">
            <a:avLst/>
          </a:prstGeom>
          <a:solidFill>
            <a:srgbClr val="00D4FF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46304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1508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4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AI-Powered WMS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40080" y="19659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State: </a:t>
            </a:r>
            <a:r>
              <a:rPr lang="en-US" sz="1100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Manual, slow WMS with no automation. Processing bottlenecks limit scale.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0080" y="2514600"/>
            <a:ext cx="3566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Solution: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Smart routing: AI selects optimal Fly/Ocean/Express per package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Demand forecasting: Predict volume spikes, pre-allocate capacity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 customs: Generate declarations using product classification AI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Batch optimizer: Group shipments by destination for cost reduction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40080" y="4206240"/>
            <a:ext cx="3566160" cy="365760"/>
          </a:xfrm>
          <a:prstGeom prst="rect">
            <a:avLst/>
          </a:prstGeom>
          <a:solidFill>
            <a:srgbClr val="E8FDF5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42062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40-60% faster processing · 15-20% shipping cost reduction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754880" y="128016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754880" y="1280160"/>
            <a:ext cx="3931920" cy="54864"/>
          </a:xfrm>
          <a:prstGeom prst="rect">
            <a:avLst/>
          </a:prstGeom>
          <a:solidFill>
            <a:srgbClr val="FBBF24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463040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394960" y="1508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4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 + SEO Optimization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4937760" y="19659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State: </a:t>
            </a:r>
            <a:r>
              <a:rPr lang="en-US" sz="1100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not optimized for LLM or SEO. Invisible to AI-powered shopping.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4937760" y="2514600"/>
            <a:ext cx="3566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Solution: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Structured data: Schema.org markup for all products and services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 content: Rewrite pages for LLM comprehension + SEO ranking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ChatGPT/Perplexity: Optimize for AI shopping assistant discovery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Semantic search: Natural language product finding on-site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4937760" y="4206240"/>
            <a:ext cx="3566160" cy="365760"/>
          </a:xfrm>
          <a:prstGeom prst="rect">
            <a:avLst/>
          </a:prstGeom>
          <a:solidFill>
            <a:srgbClr val="FEF9E7"/>
          </a:solidFill>
          <a:ln/>
        </p:spPr>
      </p:sp>
      <p:sp>
        <p:nvSpPr>
          <p:cNvPr id="20" name="Text 16"/>
          <p:cNvSpPr/>
          <p:nvPr/>
        </p:nvSpPr>
        <p:spPr>
          <a:xfrm>
            <a:off x="4937760" y="42062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+20-30% organic traffic · New AI-driven acquisition channel</a:t>
            </a:r>
            <a:endParaRPr lang="en-US" sz="1000" dirty="0"/>
          </a:p>
        </p:txBody>
      </p:sp>
      <p:pic>
        <p:nvPicPr>
          <p:cNvPr id="21" name="Picture 2" descr="Lean Impeccable Tech | LinkedIn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4050" y="65659"/>
            <a:ext cx="869950" cy="869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4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2: GROWTH ACCELERATION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on Phase 1 foundations to drive user acquisition and retention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80160"/>
            <a:ext cx="3931920" cy="54864"/>
          </a:xfrm>
          <a:prstGeom prst="rect">
            <a:avLst/>
          </a:prstGeom>
          <a:solidFill>
            <a:srgbClr val="A78BFA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46304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15087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4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Mobile App + 1-Click Checkout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40080" y="19659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Now: </a:t>
            </a:r>
            <a:r>
              <a:rPr lang="en-US" sz="1100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1CC orders surged +600%. Mobile-first buying is proven. No app = missed revenue.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0080" y="2514600"/>
            <a:ext cx="3566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 personalization: Product recs based on purchase + browse history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Smart notifications: Price drops, restocks, similar items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1-click reorder: Repeat purchases with one tap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Package tracking: Real-time shipment status with ETA prediction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 chat support: Instant help with customs, shipping questions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754880" y="128016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54880" y="1280160"/>
            <a:ext cx="3931920" cy="54864"/>
          </a:xfrm>
          <a:prstGeom prst="rect">
            <a:avLst/>
          </a:prstGeom>
          <a:solidFill>
            <a:srgbClr val="FF6B35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46304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94960" y="1508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4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Marketing AI Engine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4937760" y="19659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Now: </a:t>
            </a:r>
            <a:r>
              <a:rPr lang="en-US" sz="1100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exists but isn't utilized. AI can turn existing data into revenue engine.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4937760" y="2514600"/>
            <a:ext cx="3566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Capabilities: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Smart segmentation: Auto-cluster users by behavior &amp; value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Churn prediction: Identify at-risk users before they leave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Campaign automation: Right message, right time, right channel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Cross-market insights: What works in DK → apply to India/SE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ROI tracking: Measure every campaign's incremental impact</a:t>
            </a:r>
            <a:endParaRPr lang="en-US" sz="1000" dirty="0"/>
          </a:p>
        </p:txBody>
      </p:sp>
      <p:pic>
        <p:nvPicPr>
          <p:cNvPr id="17" name="Picture 2" descr="Lean Impeccable Tech | LinkedIn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4050" y="65659"/>
            <a:ext cx="869950" cy="869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8ED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INDIA IS THE STRATEGIC KEY</a:t>
            </a:r>
            <a:endParaRPr lang="en-US" sz="2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09728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109728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offers a unique dual advantage: a massive consumer market AND an engineering talent pool to build AI solutions at competitive cost.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365760" y="1920240"/>
            <a:ext cx="2011680" cy="2560320"/>
          </a:xfrm>
          <a:prstGeom prst="rect">
            <a:avLst/>
          </a:prstGeom>
          <a:solidFill>
            <a:srgbClr val="111E36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65760" y="1920240"/>
            <a:ext cx="201168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8" name="Text 5"/>
          <p:cNvSpPr/>
          <p:nvPr/>
        </p:nvSpPr>
        <p:spPr>
          <a:xfrm>
            <a:off x="502920" y="21031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D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Consumer Market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02920" y="24231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D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1,773 sign-ups in 2024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502920" y="283464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sign-up volume of any market. Despite decline, India shows highest raw demand potential.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560320" y="1920240"/>
            <a:ext cx="2011680" cy="2560320"/>
          </a:xfrm>
          <a:prstGeom prst="rect">
            <a:avLst/>
          </a:prstGeom>
          <a:solidFill>
            <a:srgbClr val="111E36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560320" y="1920240"/>
            <a:ext cx="2011680" cy="54864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3" name="Text 10"/>
          <p:cNvSpPr/>
          <p:nvPr/>
        </p:nvSpPr>
        <p:spPr>
          <a:xfrm>
            <a:off x="2697480" y="21031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D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Mobile-First Behavior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2697480" y="24231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4D3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+600% 1CC growth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2697480" y="283464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users are adopting mobile checkout fastest. An AI-powered app would thrive here first.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754880" y="1920240"/>
            <a:ext cx="2011680" cy="2560320"/>
          </a:xfrm>
          <a:prstGeom prst="rect">
            <a:avLst/>
          </a:prstGeom>
          <a:solidFill>
            <a:srgbClr val="111E36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754880" y="1920240"/>
            <a:ext cx="2011680" cy="54864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8" name="Text 15"/>
          <p:cNvSpPr/>
          <p:nvPr/>
        </p:nvSpPr>
        <p:spPr>
          <a:xfrm>
            <a:off x="4892040" y="21031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D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Development Hub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892040" y="24231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78B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60-70% cost advantage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4892040" y="283464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World-class AI/ML talent available at competitive rates. Build solutions from India, deploy globally.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949440" y="1920240"/>
            <a:ext cx="2011680" cy="2560320"/>
          </a:xfrm>
          <a:prstGeom prst="rect">
            <a:avLst/>
          </a:prstGeom>
          <a:solidFill>
            <a:srgbClr val="111E36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949440" y="1920240"/>
            <a:ext cx="2011680" cy="54864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3" name="Text 20"/>
          <p:cNvSpPr/>
          <p:nvPr/>
        </p:nvSpPr>
        <p:spPr>
          <a:xfrm>
            <a:off x="7086600" y="21031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D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Diverse Categories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7086600" y="24231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Accessories, Health, Home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7086600" y="283464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DK/SE auto-parts niche, India has broad categories — ideal for AI recommendation engines.</a:t>
            </a:r>
            <a:endParaRPr lang="en-US" sz="1000" dirty="0"/>
          </a:p>
        </p:txBody>
      </p:sp>
      <p:pic>
        <p:nvPicPr>
          <p:cNvPr id="26" name="Picture 2" descr="Lean Impeccable Tech | LinkedIn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4050" y="65659"/>
            <a:ext cx="869950" cy="869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4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STEPS &amp; ENGAGEMENT MODEL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4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PROPOSED TIMELINE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201168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63040"/>
            <a:ext cx="201168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6002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1-2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828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4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Discovery &amp; Audit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1488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 into WMS, website, data infrastructure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60320" y="1463040"/>
            <a:ext cx="201168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0" y="1463040"/>
            <a:ext cx="2011680" cy="54864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2" name="Text 10"/>
          <p:cNvSpPr/>
          <p:nvPr/>
        </p:nvSpPr>
        <p:spPr>
          <a:xfrm>
            <a:off x="2651760" y="16002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3-6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651760" y="1828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4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1A: SEO/LLM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651760" y="21488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win — content + structured data optimization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1463040"/>
            <a:ext cx="201168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1463040"/>
            <a:ext cx="201168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16002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3-12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46320" y="1828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4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1B: WMS AI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46320" y="21488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automation + routing intelligence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949440" y="1463040"/>
            <a:ext cx="201168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949440" y="1463040"/>
            <a:ext cx="2011680" cy="54864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2" name="Text 20"/>
          <p:cNvSpPr/>
          <p:nvPr/>
        </p:nvSpPr>
        <p:spPr>
          <a:xfrm>
            <a:off x="7040880" y="16002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8-20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040880" y="1828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4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2: App + Marketing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040880" y="21488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development + marketing AI engine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31520" y="30175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4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IMMEDIATE ACTIONS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57200" y="3474720"/>
            <a:ext cx="822960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40080" y="352044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Schedule a 60-min discovery call 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Walk through current WMS workflows, data landscape, and technical infrastructure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Share access to WMS system + website analytics 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Our team will conduct a technical audit and deliver findings within 1 week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Approve Phase 1 kickoff 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SEO/LLM optimization can begin immediately with minimal disruption to operations</a:t>
            </a:r>
            <a:endParaRPr lang="en-US" sz="1100" dirty="0"/>
          </a:p>
        </p:txBody>
      </p:sp>
      <p:pic>
        <p:nvPicPr>
          <p:cNvPr id="28" name="Picture 2" descr="Lean Impeccable Tech | LinkedI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4050" y="65659"/>
            <a:ext cx="869950" cy="869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D4FF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91440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210312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8ED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LET'S BUILD THE FUTURE</a:t>
            </a:r>
            <a:endParaRPr lang="en-US" sz="3200" dirty="0"/>
          </a:p>
          <a:p>
            <a:pPr marL="0" indent="0" algn="ctr">
              <a:buNone/>
            </a:pPr>
            <a:r>
              <a:rPr lang="en-US" sz="3200" b="1" dirty="0">
                <a:solidFill>
                  <a:srgbClr val="E8ED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 SHOPUSA TOGETHER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3657600" y="3200400"/>
            <a:ext cx="1828800" cy="2743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7" name="Text 4"/>
          <p:cNvSpPr/>
          <p:nvPr/>
        </p:nvSpPr>
        <p:spPr>
          <a:xfrm>
            <a:off x="1371600" y="33832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not just a tool — it's the competitive advantage that will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i="1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next era of international e-commerce logistics.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42062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Contact: </a:t>
            </a:r>
            <a:r>
              <a:rPr lang="en-US" sz="1200" dirty="0" err="1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Mastan</a:t>
            </a:r>
            <a:r>
              <a:rPr lang="en-US" sz="12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smtClean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 </a:t>
            </a:r>
            <a:r>
              <a:rPr lang="en-US" sz="1200" dirty="0" err="1" smtClean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Shaik</a:t>
            </a:r>
            <a:r>
              <a:rPr lang="en-US" sz="1200" dirty="0" smtClean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Lakshmi </a:t>
            </a:r>
            <a:r>
              <a:rPr lang="en-US" sz="1200" dirty="0" err="1" smtClean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Narasimhan</a:t>
            </a:r>
            <a:r>
              <a:rPr lang="en-US" sz="1200" dirty="0" smtClean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R· Lean Impeccable Technologies </a:t>
            </a:r>
            <a:r>
              <a:rPr lang="en-US" sz="1200" dirty="0" err="1" smtClean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Pvt</a:t>
            </a:r>
            <a:r>
              <a:rPr lang="en-US" sz="1200" dirty="0" smtClean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Ltd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March 2026</a:t>
            </a:r>
            <a:endParaRPr lang="en-US" sz="1200" dirty="0"/>
          </a:p>
        </p:txBody>
      </p:sp>
      <p:pic>
        <p:nvPicPr>
          <p:cNvPr id="9" name="Picture 2" descr="Lean Impeccable Tech | LinkedIn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4050" y="65659"/>
            <a:ext cx="869950" cy="869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1047</Words>
  <Application>Microsoft Office PowerPoint</Application>
  <PresentationFormat>On-screen Show (16:9)</PresentationFormat>
  <Paragraphs>193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ShopUSA AI Transformation Proposal</dc:title>
  <dc:subject>PptxGenJS Presentation</dc:subject>
  <dc:creator>Mastan — AI Consulting Team</dc:creator>
  <cp:lastModifiedBy>Hp</cp:lastModifiedBy>
  <cp:revision>3</cp:revision>
  <dcterms:created xsi:type="dcterms:W3CDTF">2026-03-17T07:55:36Z</dcterms:created>
  <dcterms:modified xsi:type="dcterms:W3CDTF">2026-03-17T08:07:07Z</dcterms:modified>
</cp:coreProperties>
</file>